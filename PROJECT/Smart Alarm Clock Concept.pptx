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b="def" i="def"/>
      <a:tcStyle>
        <a:tcBdr/>
        <a:fill>
          <a:solidFill>
            <a:srgbClr val="E9EFF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839787" y="365125"/>
            <a:ext cx="10515601" cy="1325563"/>
          </a:xfrm>
          <a:prstGeom prst="rect">
            <a:avLst/>
          </a:prstGeom>
        </p:spPr>
        <p:txBody>
          <a:bodyPr/>
          <a:lstStyle/>
          <a:p>
            <a:pPr/>
            <a:r>
              <a:t>Title Text</a:t>
            </a:r>
          </a:p>
        </p:txBody>
      </p:sp>
      <p:sp>
        <p:nvSpPr>
          <p:cNvPr id="48" name="Body Level One…"/>
          <p:cNvSpPr txBox="1"/>
          <p:nvPr>
            <p:ph type="body" sz="quarter" idx="1"/>
          </p:nvPr>
        </p:nvSpPr>
        <p:spPr>
          <a:xfrm>
            <a:off x="839787" y="1681163"/>
            <a:ext cx="5157789"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6172200" y="1681163"/>
            <a:ext cx="5183188" cy="823913"/>
          </a:xfrm>
          <a:prstGeom prst="rect">
            <a:avLst/>
          </a:prstGeom>
        </p:spPr>
        <p:txBody>
          <a:bodyPr anchor="b"/>
          <a:lstStyle/>
          <a:p>
            <a:pPr marL="0" indent="0">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73" name="Body Level One…"/>
          <p:cNvSpPr txBox="1"/>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839787" y="2057400"/>
            <a:ext cx="3932239" cy="3811588"/>
          </a:xfrm>
          <a:prstGeom prst="rect">
            <a:avLst/>
          </a:prstGeom>
        </p:spPr>
        <p:txBody>
          <a:bodyPr/>
          <a:lstStyle/>
          <a:p>
            <a:pPr marL="0" indent="0">
              <a:buSzTx/>
              <a:buFontTx/>
              <a:buNone/>
              <a:defRPr sz="16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83" name="Picture Placeholder 2"/>
          <p:cNvSpPr/>
          <p:nvPr>
            <p:ph type="pic" sz="half" idx="21"/>
          </p:nvPr>
        </p:nvSpPr>
        <p:spPr>
          <a:xfrm>
            <a:off x="5183187" y="987425"/>
            <a:ext cx="6172201" cy="4873625"/>
          </a:xfrm>
          <a:prstGeom prst="rect">
            <a:avLst/>
          </a:prstGeom>
        </p:spPr>
        <p:txBody>
          <a:bodyPr lIns="91439" rIns="91439">
            <a:noAutofit/>
          </a:bodyPr>
          <a:lstStyle/>
          <a:p>
            <a:pPr/>
          </a:p>
        </p:txBody>
      </p:sp>
      <p:sp>
        <p:nvSpPr>
          <p:cNvPr id="84" name="Body Level One…"/>
          <p:cNvSpPr txBox="1"/>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image" Target="../media/image3.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itle 1"/>
          <p:cNvSpPr txBox="1"/>
          <p:nvPr>
            <p:ph type="ctrTitle"/>
          </p:nvPr>
        </p:nvSpPr>
        <p:spPr>
          <a:xfrm>
            <a:off x="1219200" y="125902"/>
            <a:ext cx="9144000" cy="2387601"/>
          </a:xfrm>
          <a:prstGeom prst="rect">
            <a:avLst/>
          </a:prstGeom>
        </p:spPr>
        <p:txBody>
          <a:bodyPr/>
          <a:lstStyle/>
          <a:p>
            <a:pPr/>
            <a:r>
              <a:t>SMART ALARM CLOCK</a:t>
            </a:r>
          </a:p>
        </p:txBody>
      </p:sp>
      <p:sp>
        <p:nvSpPr>
          <p:cNvPr id="95" name="Subtitle 2"/>
          <p:cNvSpPr txBox="1"/>
          <p:nvPr>
            <p:ph type="subTitle" sz="half" idx="1"/>
          </p:nvPr>
        </p:nvSpPr>
        <p:spPr>
          <a:xfrm>
            <a:off x="2684584" y="2675914"/>
            <a:ext cx="9144001" cy="3021501"/>
          </a:xfrm>
          <a:prstGeom prst="rect">
            <a:avLst/>
          </a:prstGeom>
        </p:spPr>
        <p:txBody>
          <a:bodyPr/>
          <a:lstStyle/>
          <a:p>
            <a:pPr/>
            <a:r>
              <a:t>A Time Management &amp; Productivity System</a:t>
            </a:r>
          </a:p>
          <a:p>
            <a:pPr>
              <a:defRPr b="1"/>
            </a:pPr>
            <a:r>
              <a:t>Technologies:</a:t>
            </a:r>
            <a:r>
              <a:rPr b="0"/>
              <a:t> C | Linux/Ubuntu | POSIX</a:t>
            </a:r>
            <a:endParaRPr b="0"/>
          </a:p>
          <a:p>
            <a:pPr algn="r"/>
            <a:r>
              <a:t>     Team Members: </a:t>
            </a:r>
          </a:p>
          <a:p>
            <a:pPr marL="457200" indent="-457200" algn="r">
              <a:buSzPct val="100000"/>
              <a:buAutoNum type="arabicPeriod" startAt="1"/>
            </a:pPr>
            <a:r>
              <a:t>P.MADHULIKA(2520030151)</a:t>
            </a:r>
          </a:p>
          <a:p>
            <a:pPr marL="457200" indent="-457200" algn="r">
              <a:buSzPct val="100000"/>
              <a:buAutoNum type="arabicPeriod" startAt="1"/>
            </a:pPr>
            <a:r>
              <a:t>G. DARSHINI(2520030167)</a:t>
            </a:r>
          </a:p>
          <a:p>
            <a:pPr marL="457200" indent="-457200" algn="r">
              <a:buSzPct val="100000"/>
              <a:buAutoNum type="arabicPeriod" startAt="1"/>
            </a:pPr>
            <a:r>
              <a:t>V. CHAITHANYA(2520030619)</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Title 1"/>
          <p:cNvSpPr txBox="1"/>
          <p:nvPr>
            <p:ph type="title"/>
          </p:nvPr>
        </p:nvSpPr>
        <p:spPr>
          <a:xfrm>
            <a:off x="838200" y="365125"/>
            <a:ext cx="10515600" cy="1325563"/>
          </a:xfrm>
          <a:prstGeom prst="rect">
            <a:avLst/>
          </a:prstGeom>
        </p:spPr>
        <p:txBody>
          <a:bodyPr/>
          <a:lstStyle/>
          <a:p>
            <a:pPr/>
            <a:r>
              <a:t>ABSTRACT</a:t>
            </a:r>
          </a:p>
        </p:txBody>
      </p:sp>
      <p:sp>
        <p:nvSpPr>
          <p:cNvPr id="98" name="Content Placeholder 2"/>
          <p:cNvSpPr txBox="1"/>
          <p:nvPr>
            <p:ph type="body" idx="1"/>
          </p:nvPr>
        </p:nvSpPr>
        <p:spPr>
          <a:xfrm>
            <a:off x="838200" y="1825625"/>
            <a:ext cx="10515600" cy="4351338"/>
          </a:xfrm>
          <a:prstGeom prst="rect">
            <a:avLst/>
          </a:prstGeom>
        </p:spPr>
        <p:txBody>
          <a:bodyPr/>
          <a:lstStyle/>
          <a:p>
            <a:pPr marL="0" indent="0">
              <a:buSzTx/>
              <a:buNone/>
            </a:pPr>
            <a:r>
              <a:t>A traditional alarm clock provides an alert at a specified time. The </a:t>
            </a:r>
            <a:r>
              <a:rPr b="1"/>
              <a:t>Smart Alarm Clock</a:t>
            </a:r>
            <a:r>
              <a:t> extends this basic concept by connecting alarms with the user's </a:t>
            </a:r>
            <a:r>
              <a:rPr b="1"/>
              <a:t>daily activities, schedules, study plans, tasks, and reminders</a:t>
            </a:r>
            <a:r>
              <a:t>.</a:t>
            </a:r>
          </a:p>
          <a:p>
            <a:pPr marL="0" indent="0">
              <a:buSzTx/>
              <a:buNone/>
            </a:pPr>
            <a:r>
              <a:t>The system is developed using </a:t>
            </a:r>
            <a:r>
              <a:rPr b="1"/>
              <a:t>C programming and Linux/POSIX system programming concepts</a:t>
            </a:r>
            <a:r>
              <a:t>.</a:t>
            </a:r>
          </a:p>
          <a:p>
            <a:pPr marL="0" indent="0">
              <a:buSzTx/>
              <a:buNone/>
            </a:pPr>
            <a:r>
              <a:t>Instead of only asking </a:t>
            </a:r>
            <a:r>
              <a:rPr b="1"/>
              <a:t>“When should the alarm ring?”</a:t>
            </a:r>
            <a:r>
              <a:t>, the system also considers </a:t>
            </a:r>
            <a:r>
              <a:rPr b="1"/>
              <a:t>“What activity should the user perform at that time?”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Title 1"/>
          <p:cNvSpPr txBox="1"/>
          <p:nvPr>
            <p:ph type="title"/>
          </p:nvPr>
        </p:nvSpPr>
        <p:spPr>
          <a:xfrm>
            <a:off x="427892" y="236171"/>
            <a:ext cx="10515601" cy="1325563"/>
          </a:xfrm>
          <a:prstGeom prst="rect">
            <a:avLst/>
          </a:prstGeom>
        </p:spPr>
        <p:txBody>
          <a:bodyPr/>
          <a:lstStyle/>
          <a:p>
            <a:pPr/>
            <a:r>
              <a:t>PROBLEM STATEMENT</a:t>
            </a:r>
          </a:p>
        </p:txBody>
      </p:sp>
      <p:sp>
        <p:nvSpPr>
          <p:cNvPr id="101" name="Rectangle 1"/>
          <p:cNvSpPr txBox="1"/>
          <p:nvPr>
            <p:ph type="body" idx="1"/>
          </p:nvPr>
        </p:nvSpPr>
        <p:spPr>
          <a:xfrm>
            <a:off x="322383" y="1380017"/>
            <a:ext cx="11398122" cy="4798238"/>
          </a:xfrm>
          <a:prstGeom prst="rect">
            <a:avLst/>
          </a:prstGeom>
        </p:spPr>
        <p:txBody>
          <a:bodyPr anchor="ctr"/>
          <a:lstStyle/>
          <a:p>
            <a:pPr marL="0" indent="0">
              <a:lnSpc>
                <a:spcPct val="100000"/>
              </a:lnSpc>
              <a:spcBef>
                <a:spcPts val="0"/>
              </a:spcBef>
              <a:buFontTx/>
              <a:defRPr sz="2400">
                <a:latin typeface="Arial"/>
                <a:ea typeface="Arial"/>
                <a:cs typeface="Arial"/>
                <a:sym typeface="Arial"/>
              </a:defRPr>
            </a:pPr>
            <a:r>
              <a:t>Basic alarm clocks mainly provide </a:t>
            </a:r>
            <a:r>
              <a:rPr b="1"/>
              <a:t>time-based alerts</a:t>
            </a:r>
            <a:r>
              <a:t>.</a:t>
            </a:r>
          </a:p>
          <a:p>
            <a:pPr marL="0" indent="0">
              <a:lnSpc>
                <a:spcPct val="100000"/>
              </a:lnSpc>
              <a:spcBef>
                <a:spcPts val="0"/>
              </a:spcBef>
              <a:buFontTx/>
              <a:defRPr sz="2400">
                <a:latin typeface="Arial"/>
                <a:ea typeface="Arial"/>
                <a:cs typeface="Arial"/>
                <a:sym typeface="Arial"/>
              </a:defRPr>
            </a:pPr>
            <a:r>
              <a:t>Mobile phones already provide alarms, notifications, snooze, and repeat options.</a:t>
            </a:r>
          </a:p>
          <a:p>
            <a:pPr marL="0" indent="0">
              <a:lnSpc>
                <a:spcPct val="100000"/>
              </a:lnSpc>
              <a:spcBef>
                <a:spcPts val="0"/>
              </a:spcBef>
              <a:buFontTx/>
              <a:defRPr sz="2400">
                <a:latin typeface="Arial"/>
                <a:ea typeface="Arial"/>
                <a:cs typeface="Arial"/>
                <a:sym typeface="Arial"/>
              </a:defRPr>
            </a:pPr>
            <a:r>
              <a:t>Students need to manage classes, study sessions, assignments, tasks, </a:t>
            </a:r>
          </a:p>
          <a:p>
            <a:pPr marL="0" indent="0">
              <a:lnSpc>
                <a:spcPct val="100000"/>
              </a:lnSpc>
              <a:spcBef>
                <a:spcPts val="0"/>
              </a:spcBef>
              <a:buSzTx/>
              <a:buNone/>
              <a:defRPr sz="2400">
                <a:latin typeface="Arial"/>
                <a:ea typeface="Arial"/>
                <a:cs typeface="Arial"/>
                <a:sym typeface="Arial"/>
              </a:defRPr>
            </a:pPr>
            <a:r>
              <a:t>and daily activities.</a:t>
            </a:r>
          </a:p>
          <a:p>
            <a:pPr marL="0" indent="0">
              <a:lnSpc>
                <a:spcPct val="100000"/>
              </a:lnSpc>
              <a:spcBef>
                <a:spcPts val="0"/>
              </a:spcBef>
              <a:buFontTx/>
              <a:defRPr sz="2400">
                <a:latin typeface="Arial"/>
                <a:ea typeface="Arial"/>
                <a:cs typeface="Arial"/>
                <a:sym typeface="Arial"/>
              </a:defRPr>
            </a:pPr>
            <a:r>
              <a:t>A simple alarm does not provide a complete connection between time </a:t>
            </a:r>
          </a:p>
          <a:p>
            <a:pPr marL="0" indent="0">
              <a:lnSpc>
                <a:spcPct val="100000"/>
              </a:lnSpc>
              <a:spcBef>
                <a:spcPts val="0"/>
              </a:spcBef>
              <a:buSzTx/>
              <a:buNone/>
              <a:defRPr sz="2400">
                <a:latin typeface="Arial"/>
                <a:ea typeface="Arial"/>
                <a:cs typeface="Arial"/>
                <a:sym typeface="Arial"/>
              </a:defRPr>
            </a:pPr>
            <a:r>
              <a:t>and planned activities.</a:t>
            </a:r>
          </a:p>
          <a:p>
            <a:pPr marL="0" indent="0">
              <a:lnSpc>
                <a:spcPct val="100000"/>
              </a:lnSpc>
              <a:spcBef>
                <a:spcPts val="0"/>
              </a:spcBef>
              <a:buFontTx/>
              <a:defRPr sz="2400">
                <a:latin typeface="Arial"/>
                <a:ea typeface="Arial"/>
                <a:cs typeface="Arial"/>
                <a:sym typeface="Arial"/>
              </a:defRPr>
            </a:pPr>
            <a:r>
              <a:t>Therefore, there is a need to extend the alarm concept into a time-management</a:t>
            </a:r>
          </a:p>
          <a:p>
            <a:pPr marL="0" indent="0">
              <a:lnSpc>
                <a:spcPct val="100000"/>
              </a:lnSpc>
              <a:spcBef>
                <a:spcPts val="0"/>
              </a:spcBef>
              <a:buSzTx/>
              <a:buNone/>
              <a:defRPr b="1" sz="2400">
                <a:latin typeface="Arial"/>
                <a:ea typeface="Arial"/>
                <a:cs typeface="Arial"/>
                <a:sym typeface="Arial"/>
              </a:defRPr>
            </a:pPr>
            <a:r>
              <a:t> </a:t>
            </a:r>
            <a:r>
              <a:rPr b="0"/>
              <a:t>and productivity system. </a:t>
            </a:r>
            <a:endParaRPr b="0"/>
          </a:p>
          <a:p>
            <a:pPr marL="0" indent="0">
              <a:buSzTx/>
              <a:buNone/>
              <a:defRPr b="1" sz="2400"/>
            </a:pPr>
            <a:r>
              <a:t>Main Problem</a:t>
            </a:r>
          </a:p>
          <a:p>
            <a:pPr>
              <a:defRPr sz="2400"/>
            </a:pPr>
            <a:r>
              <a:t>How can we connect alarms with daily activities and tasks to help users organize their </a:t>
            </a:r>
          </a:p>
          <a:p>
            <a:pPr marL="0" indent="0">
              <a:buSzTx/>
              <a:buNone/>
              <a:defRPr sz="2400"/>
            </a:pPr>
            <a:r>
              <a:t>time more effectively?</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Title 1"/>
          <p:cNvSpPr txBox="1"/>
          <p:nvPr>
            <p:ph type="title"/>
          </p:nvPr>
        </p:nvSpPr>
        <p:spPr>
          <a:xfrm>
            <a:off x="838200" y="201002"/>
            <a:ext cx="10515600" cy="1325563"/>
          </a:xfrm>
          <a:prstGeom prst="rect">
            <a:avLst/>
          </a:prstGeom>
        </p:spPr>
        <p:txBody>
          <a:bodyPr/>
          <a:lstStyle/>
          <a:p>
            <a:pPr/>
            <a:r>
              <a:t>EXISTING SYSTEM</a:t>
            </a:r>
          </a:p>
        </p:txBody>
      </p:sp>
      <p:sp>
        <p:nvSpPr>
          <p:cNvPr id="104" name="Content Placeholder 2"/>
          <p:cNvSpPr txBox="1"/>
          <p:nvPr>
            <p:ph type="body" idx="1"/>
          </p:nvPr>
        </p:nvSpPr>
        <p:spPr>
          <a:xfrm>
            <a:off x="838200" y="1406768"/>
            <a:ext cx="10515600" cy="5310556"/>
          </a:xfrm>
          <a:prstGeom prst="rect">
            <a:avLst/>
          </a:prstGeom>
        </p:spPr>
        <p:txBody>
          <a:bodyPr/>
          <a:lstStyle/>
          <a:p>
            <a:pPr>
              <a:lnSpc>
                <a:spcPct val="72000"/>
              </a:lnSpc>
              <a:defRPr b="1" sz="2500"/>
            </a:pPr>
            <a:r>
              <a:t>Basic Working</a:t>
            </a:r>
          </a:p>
          <a:p>
            <a:pPr marL="0" indent="0">
              <a:lnSpc>
                <a:spcPct val="72000"/>
              </a:lnSpc>
              <a:buSzTx/>
              <a:buNone/>
              <a:defRPr b="1" sz="2500"/>
            </a:pPr>
            <a:r>
              <a:t>Set Time</a:t>
            </a:r>
            <a:br/>
            <a:r>
              <a:rPr b="0"/>
              <a:t>↓</a:t>
            </a:r>
            <a:br>
              <a:rPr b="0"/>
            </a:br>
            <a:r>
              <a:t>Wait for Specified Time</a:t>
            </a:r>
            <a:br/>
            <a:r>
              <a:rPr b="0"/>
              <a:t>↓</a:t>
            </a:r>
            <a:br>
              <a:rPr b="0"/>
            </a:br>
            <a:r>
              <a:t>Alarm Condition Reached</a:t>
            </a:r>
            <a:br/>
            <a:r>
              <a:rPr b="0"/>
              <a:t>↓</a:t>
            </a:r>
            <a:br>
              <a:rPr b="0"/>
            </a:br>
            <a:r>
              <a:t>Alert User</a:t>
            </a:r>
          </a:p>
          <a:p>
            <a:pPr>
              <a:lnSpc>
                <a:spcPct val="72000"/>
              </a:lnSpc>
              <a:defRPr b="1" sz="2500"/>
            </a:pPr>
            <a:r>
              <a:t>Common Functions</a:t>
            </a:r>
          </a:p>
          <a:p>
            <a:pPr>
              <a:lnSpc>
                <a:spcPct val="72000"/>
              </a:lnSpc>
              <a:defRPr sz="2500"/>
            </a:pPr>
            <a:r>
              <a:t>Set alarm for a specific time</a:t>
            </a:r>
          </a:p>
          <a:p>
            <a:pPr>
              <a:lnSpc>
                <a:spcPct val="72000"/>
              </a:lnSpc>
              <a:defRPr sz="2500"/>
            </a:pPr>
            <a:r>
              <a:t>Receive an alert or notification</a:t>
            </a:r>
          </a:p>
          <a:p>
            <a:pPr>
              <a:lnSpc>
                <a:spcPct val="72000"/>
              </a:lnSpc>
              <a:defRPr sz="2500"/>
            </a:pPr>
            <a:r>
              <a:t>Snooze the alarm</a:t>
            </a:r>
          </a:p>
          <a:p>
            <a:pPr>
              <a:lnSpc>
                <a:spcPct val="72000"/>
              </a:lnSpc>
              <a:defRPr sz="2500"/>
            </a:pPr>
            <a:r>
              <a:t>Repeat the alarm</a:t>
            </a:r>
          </a:p>
          <a:p>
            <a:pPr>
              <a:lnSpc>
                <a:spcPct val="72000"/>
              </a:lnSpc>
              <a:defRPr sz="2500"/>
            </a:pPr>
            <a:r>
              <a:t>Manage individual alarms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Title 1"/>
          <p:cNvSpPr txBox="1"/>
          <p:nvPr>
            <p:ph type="title"/>
          </p:nvPr>
        </p:nvSpPr>
        <p:spPr>
          <a:xfrm>
            <a:off x="838200" y="365125"/>
            <a:ext cx="10515600" cy="1325563"/>
          </a:xfrm>
          <a:prstGeom prst="rect">
            <a:avLst/>
          </a:prstGeom>
        </p:spPr>
        <p:txBody>
          <a:bodyPr/>
          <a:lstStyle/>
          <a:p>
            <a:pPr/>
            <a:r>
              <a:t>PROPOSED SYSTEM</a:t>
            </a:r>
          </a:p>
        </p:txBody>
      </p:sp>
      <p:sp>
        <p:nvSpPr>
          <p:cNvPr id="107" name="Content Placeholder 2"/>
          <p:cNvSpPr txBox="1"/>
          <p:nvPr>
            <p:ph type="body" idx="1"/>
          </p:nvPr>
        </p:nvSpPr>
        <p:spPr>
          <a:xfrm>
            <a:off x="838200" y="1477108"/>
            <a:ext cx="10515600" cy="4699855"/>
          </a:xfrm>
          <a:prstGeom prst="rect">
            <a:avLst/>
          </a:prstGeom>
        </p:spPr>
        <p:txBody>
          <a:bodyPr/>
          <a:lstStyle/>
          <a:p>
            <a:pPr>
              <a:lnSpc>
                <a:spcPct val="81000"/>
              </a:lnSpc>
              <a:defRPr sz="2500"/>
            </a:pPr>
            <a:r>
              <a:t>The proposed system extends the normal alarm by connecting </a:t>
            </a:r>
            <a:r>
              <a:rPr b="1"/>
              <a:t>time with activities and tasks</a:t>
            </a:r>
            <a:r>
              <a:t>.</a:t>
            </a:r>
          </a:p>
          <a:p>
            <a:pPr marL="0" indent="0">
              <a:lnSpc>
                <a:spcPct val="81000"/>
              </a:lnSpc>
              <a:buSzTx/>
              <a:buNone/>
              <a:defRPr b="1" sz="2500"/>
            </a:pPr>
            <a:r>
              <a:t>Main Functions</a:t>
            </a:r>
          </a:p>
          <a:p>
            <a:pPr>
              <a:lnSpc>
                <a:spcPct val="81000"/>
              </a:lnSpc>
              <a:defRPr b="1" sz="2500"/>
            </a:pPr>
            <a:r>
              <a:t>Activity-Based Alarms</a:t>
            </a:r>
            <a:r>
              <a:rPr b="0"/>
              <a:t> — Associate an alarm with a specific activity.</a:t>
            </a:r>
          </a:p>
          <a:p>
            <a:pPr>
              <a:lnSpc>
                <a:spcPct val="81000"/>
              </a:lnSpc>
              <a:defRPr b="1" sz="2500"/>
            </a:pPr>
            <a:r>
              <a:t>Daily Schedule</a:t>
            </a:r>
            <a:r>
              <a:rPr b="0"/>
              <a:t> — Organize activities according to time.</a:t>
            </a:r>
          </a:p>
          <a:p>
            <a:pPr>
              <a:lnSpc>
                <a:spcPct val="81000"/>
              </a:lnSpc>
              <a:defRPr b="1" sz="2500"/>
            </a:pPr>
            <a:r>
              <a:t>Study &amp; Task Reminders</a:t>
            </a:r>
            <a:r>
              <a:rPr b="0"/>
              <a:t> — Set reminders for studies, assignments, and tasks.</a:t>
            </a:r>
          </a:p>
          <a:p>
            <a:pPr>
              <a:lnSpc>
                <a:spcPct val="81000"/>
              </a:lnSpc>
              <a:defRPr b="1" sz="2500"/>
            </a:pPr>
            <a:r>
              <a:t>Multiple Activities</a:t>
            </a:r>
            <a:r>
              <a:rPr b="0"/>
              <a:t> — Manage several activities throughout the day.</a:t>
            </a:r>
          </a:p>
          <a:p>
            <a:pPr>
              <a:lnSpc>
                <a:spcPct val="81000"/>
              </a:lnSpc>
              <a:defRPr b="1" sz="2500"/>
            </a:pPr>
            <a:r>
              <a:t>Upcoming Activities</a:t>
            </a:r>
            <a:r>
              <a:rPr b="0"/>
              <a:t> — View the next scheduled activity.</a:t>
            </a:r>
          </a:p>
          <a:p>
            <a:pPr>
              <a:lnSpc>
                <a:spcPct val="81000"/>
              </a:lnSpc>
              <a:defRPr b="1" sz="2500"/>
            </a:pPr>
            <a:r>
              <a:t>Activity Status</a:t>
            </a:r>
            <a:r>
              <a:rPr b="0"/>
              <a:t> — Mark activities as completed or missed.</a:t>
            </a:r>
          </a:p>
          <a:p>
            <a:pPr>
              <a:lnSpc>
                <a:spcPct val="81000"/>
              </a:lnSpc>
              <a:defRPr b="1" sz="2500"/>
            </a:pPr>
            <a:r>
              <a:t>Daily Overview</a:t>
            </a:r>
            <a:r>
              <a:rPr b="0"/>
              <a:t> — View planned activities and their status.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Title 1"/>
          <p:cNvSpPr txBox="1"/>
          <p:nvPr>
            <p:ph type="title"/>
          </p:nvPr>
        </p:nvSpPr>
        <p:spPr>
          <a:xfrm>
            <a:off x="838200" y="365125"/>
            <a:ext cx="10515600" cy="1325563"/>
          </a:xfrm>
          <a:prstGeom prst="rect">
            <a:avLst/>
          </a:prstGeom>
        </p:spPr>
        <p:txBody>
          <a:bodyPr/>
          <a:lstStyle/>
          <a:p>
            <a:pPr/>
            <a:r>
              <a:t>WHAT MAKES OUR PROJECT DIFFERENT?</a:t>
            </a:r>
          </a:p>
        </p:txBody>
      </p:sp>
      <p:sp>
        <p:nvSpPr>
          <p:cNvPr id="110" name="Content Placeholder 2"/>
          <p:cNvSpPr txBox="1"/>
          <p:nvPr>
            <p:ph type="body" idx="1"/>
          </p:nvPr>
        </p:nvSpPr>
        <p:spPr>
          <a:xfrm>
            <a:off x="838200" y="1825625"/>
            <a:ext cx="10515600" cy="4351338"/>
          </a:xfrm>
          <a:prstGeom prst="rect">
            <a:avLst/>
          </a:prstGeom>
        </p:spPr>
        <p:txBody>
          <a:bodyPr/>
          <a:lstStyle/>
          <a:p>
            <a:pPr marL="221742" indent="-221742" defTabSz="886968">
              <a:spcBef>
                <a:spcPts val="900"/>
              </a:spcBef>
              <a:defRPr b="1" sz="2716"/>
            </a:pPr>
            <a:r>
              <a:t>Normal Alarm:</a:t>
            </a:r>
            <a:br/>
            <a:r>
              <a:rPr b="0"/>
              <a:t>“Remind me at 7:00 AM.”</a:t>
            </a:r>
            <a:endParaRPr b="0"/>
          </a:p>
          <a:p>
            <a:pPr marL="221742" indent="-221742" defTabSz="886968">
              <a:spcBef>
                <a:spcPts val="900"/>
              </a:spcBef>
              <a:defRPr b="1" sz="2716"/>
            </a:pPr>
            <a:r>
              <a:t>Smart Alarm:</a:t>
            </a:r>
            <a:br/>
            <a:r>
              <a:rPr b="0"/>
              <a:t>“Remind me at 7:00 AM to wake up, and organize my other activities throughout the day.”</a:t>
            </a:r>
            <a:endParaRPr b="0"/>
          </a:p>
          <a:p>
            <a:pPr marL="0" indent="0" defTabSz="886968">
              <a:spcBef>
                <a:spcPts val="900"/>
              </a:spcBef>
              <a:buSzTx/>
              <a:buNone/>
              <a:defRPr b="1" sz="2716"/>
            </a:pPr>
            <a:r>
              <a:t>Example</a:t>
            </a:r>
          </a:p>
          <a:p>
            <a:pPr marL="221742" indent="-221742" defTabSz="886968">
              <a:spcBef>
                <a:spcPts val="900"/>
              </a:spcBef>
              <a:defRPr b="1" sz="2716"/>
            </a:pPr>
            <a:r>
              <a:t>7:00 AM → Wake Up</a:t>
            </a:r>
            <a:br/>
            <a:r>
              <a:t>9:00 AM → DSA Class</a:t>
            </a:r>
            <a:br/>
            <a:r>
              <a:t>4:00 PM → Complete Assignment</a:t>
            </a:r>
            <a:br/>
            <a:r>
              <a:t>6:00 PM → Study Session</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Title 1"/>
          <p:cNvSpPr txBox="1"/>
          <p:nvPr>
            <p:ph type="title"/>
          </p:nvPr>
        </p:nvSpPr>
        <p:spPr>
          <a:xfrm>
            <a:off x="838200" y="365125"/>
            <a:ext cx="10515600" cy="1325563"/>
          </a:xfrm>
          <a:prstGeom prst="rect">
            <a:avLst/>
          </a:prstGeom>
        </p:spPr>
        <p:txBody>
          <a:bodyPr/>
          <a:lstStyle/>
          <a:p>
            <a:pPr/>
            <a:r>
              <a:t>KEY FEATURES</a:t>
            </a:r>
          </a:p>
        </p:txBody>
      </p:sp>
      <p:sp>
        <p:nvSpPr>
          <p:cNvPr id="113" name="Rectangle 1"/>
          <p:cNvSpPr txBox="1"/>
          <p:nvPr>
            <p:ph type="body" idx="1"/>
          </p:nvPr>
        </p:nvSpPr>
        <p:spPr>
          <a:xfrm>
            <a:off x="838200" y="1482091"/>
            <a:ext cx="10515600" cy="4370429"/>
          </a:xfrm>
          <a:prstGeom prst="rect">
            <a:avLst/>
          </a:prstGeom>
        </p:spPr>
        <p:txBody>
          <a:bodyPr anchor="ctr"/>
          <a:lstStyle/>
          <a:p>
            <a:pPr marL="0" indent="0">
              <a:lnSpc>
                <a:spcPct val="100000"/>
              </a:lnSpc>
              <a:spcBef>
                <a:spcPts val="0"/>
              </a:spcBef>
              <a:buSzTx/>
              <a:buNone/>
              <a:defRPr sz="1800">
                <a:latin typeface="Arial"/>
                <a:ea typeface="Arial"/>
                <a:cs typeface="Arial"/>
                <a:sym typeface="Arial"/>
              </a:defRPr>
            </a:pPr>
          </a:p>
          <a:p>
            <a:pPr marL="0" indent="0">
              <a:lnSpc>
                <a:spcPct val="100000"/>
              </a:lnSpc>
              <a:spcBef>
                <a:spcPts val="0"/>
              </a:spcBef>
              <a:buSzTx/>
              <a:buNone/>
              <a:defRPr b="1" sz="2000">
                <a:latin typeface="Arial"/>
                <a:ea typeface="Arial"/>
                <a:cs typeface="Arial"/>
                <a:sym typeface="Arial"/>
              </a:defRPr>
            </a:pPr>
            <a:r>
              <a:t>Smart Alarm Management</a:t>
            </a:r>
            <a:r>
              <a:rPr b="0"/>
              <a:t> – Create and manage alarms </a:t>
            </a:r>
            <a:endParaRPr b="0"/>
          </a:p>
          <a:p>
            <a:pPr marL="0" indent="0">
              <a:lnSpc>
                <a:spcPct val="100000"/>
              </a:lnSpc>
              <a:spcBef>
                <a:spcPts val="0"/>
              </a:spcBef>
              <a:buSzTx/>
              <a:buNone/>
              <a:defRPr sz="2000">
                <a:latin typeface="Arial"/>
                <a:ea typeface="Arial"/>
                <a:cs typeface="Arial"/>
                <a:sym typeface="Arial"/>
              </a:defRPr>
            </a:pPr>
          </a:p>
          <a:p>
            <a:pPr marL="0" indent="0">
              <a:lnSpc>
                <a:spcPct val="100000"/>
              </a:lnSpc>
              <a:spcBef>
                <a:spcPts val="0"/>
              </a:spcBef>
              <a:buSzTx/>
              <a:buNone/>
              <a:defRPr sz="2000">
                <a:latin typeface="Arial"/>
                <a:ea typeface="Arial"/>
                <a:cs typeface="Arial"/>
                <a:sym typeface="Arial"/>
              </a:defRPr>
            </a:pPr>
            <a:r>
              <a:t> </a:t>
            </a:r>
            <a:r>
              <a:rPr b="1"/>
              <a:t>Daily Schedule</a:t>
            </a:r>
            <a:r>
              <a:t> – Organize activities by time</a:t>
            </a:r>
          </a:p>
          <a:p>
            <a:pPr marL="0" indent="0">
              <a:lnSpc>
                <a:spcPct val="100000"/>
              </a:lnSpc>
              <a:spcBef>
                <a:spcPts val="0"/>
              </a:spcBef>
              <a:buSzTx/>
              <a:buNone/>
              <a:defRPr sz="2000">
                <a:latin typeface="Arial"/>
                <a:ea typeface="Arial"/>
                <a:cs typeface="Arial"/>
                <a:sym typeface="Arial"/>
              </a:defRPr>
            </a:pPr>
            <a:r>
              <a:t> </a:t>
            </a:r>
          </a:p>
          <a:p>
            <a:pPr marL="0" indent="0">
              <a:lnSpc>
                <a:spcPct val="100000"/>
              </a:lnSpc>
              <a:spcBef>
                <a:spcPts val="0"/>
              </a:spcBef>
              <a:buSzTx/>
              <a:buNone/>
              <a:defRPr sz="2000">
                <a:latin typeface="Arial"/>
                <a:ea typeface="Arial"/>
                <a:cs typeface="Arial"/>
                <a:sym typeface="Arial"/>
              </a:defRPr>
            </a:pPr>
            <a:r>
              <a:t> </a:t>
            </a:r>
            <a:r>
              <a:rPr b="1"/>
              <a:t>Study &amp; Task Reminders</a:t>
            </a:r>
            <a:r>
              <a:t> – Set reminders for important tasks</a:t>
            </a:r>
          </a:p>
          <a:p>
            <a:pPr marL="0" indent="0">
              <a:lnSpc>
                <a:spcPct val="100000"/>
              </a:lnSpc>
              <a:spcBef>
                <a:spcPts val="0"/>
              </a:spcBef>
              <a:buSzTx/>
              <a:buNone/>
              <a:defRPr sz="2000">
                <a:latin typeface="Arial"/>
                <a:ea typeface="Arial"/>
                <a:cs typeface="Arial"/>
                <a:sym typeface="Arial"/>
              </a:defRPr>
            </a:pPr>
            <a:r>
              <a:t> </a:t>
            </a:r>
          </a:p>
          <a:p>
            <a:pPr marL="0" indent="0">
              <a:lnSpc>
                <a:spcPct val="100000"/>
              </a:lnSpc>
              <a:spcBef>
                <a:spcPts val="0"/>
              </a:spcBef>
              <a:buSzTx/>
              <a:buNone/>
              <a:defRPr sz="2000">
                <a:latin typeface="Arial"/>
                <a:ea typeface="Arial"/>
                <a:cs typeface="Arial"/>
                <a:sym typeface="Arial"/>
              </a:defRPr>
            </a:pPr>
            <a:r>
              <a:t> </a:t>
            </a:r>
            <a:r>
              <a:rPr b="1"/>
              <a:t>Activity-Based Alerts</a:t>
            </a:r>
            <a:r>
              <a:t> – Get alerts for scheduled activities</a:t>
            </a:r>
          </a:p>
          <a:p>
            <a:pPr marL="0" indent="0">
              <a:lnSpc>
                <a:spcPct val="100000"/>
              </a:lnSpc>
              <a:spcBef>
                <a:spcPts val="0"/>
              </a:spcBef>
              <a:buSzTx/>
              <a:buNone/>
              <a:defRPr sz="2000">
                <a:latin typeface="Arial"/>
                <a:ea typeface="Arial"/>
                <a:cs typeface="Arial"/>
                <a:sym typeface="Arial"/>
              </a:defRPr>
            </a:pPr>
            <a:r>
              <a:t> </a:t>
            </a:r>
          </a:p>
          <a:p>
            <a:pPr marL="0" indent="0">
              <a:lnSpc>
                <a:spcPct val="100000"/>
              </a:lnSpc>
              <a:spcBef>
                <a:spcPts val="0"/>
              </a:spcBef>
              <a:buSzTx/>
              <a:buNone/>
              <a:defRPr b="1" sz="2000">
                <a:latin typeface="Arial"/>
                <a:ea typeface="Arial"/>
                <a:cs typeface="Arial"/>
                <a:sym typeface="Arial"/>
              </a:defRPr>
            </a:pPr>
            <a:r>
              <a:t>Upcoming Activities</a:t>
            </a:r>
            <a:r>
              <a:rPr b="0"/>
              <a:t> – View the next planned activity</a:t>
            </a:r>
            <a:endParaRPr b="0"/>
          </a:p>
          <a:p>
            <a:pPr marL="0" indent="0">
              <a:lnSpc>
                <a:spcPct val="100000"/>
              </a:lnSpc>
              <a:spcBef>
                <a:spcPts val="0"/>
              </a:spcBef>
              <a:buSzTx/>
              <a:buNone/>
              <a:defRPr sz="2000">
                <a:latin typeface="Arial"/>
                <a:ea typeface="Arial"/>
                <a:cs typeface="Arial"/>
                <a:sym typeface="Arial"/>
              </a:defRPr>
            </a:pPr>
            <a:r>
              <a:t> </a:t>
            </a:r>
          </a:p>
          <a:p>
            <a:pPr marL="0" indent="0">
              <a:lnSpc>
                <a:spcPct val="100000"/>
              </a:lnSpc>
              <a:spcBef>
                <a:spcPts val="0"/>
              </a:spcBef>
              <a:buSzTx/>
              <a:buNone/>
              <a:defRPr sz="2000">
                <a:latin typeface="Arial"/>
                <a:ea typeface="Arial"/>
                <a:cs typeface="Arial"/>
                <a:sym typeface="Arial"/>
              </a:defRPr>
            </a:pPr>
            <a:r>
              <a:t> </a:t>
            </a:r>
            <a:r>
              <a:rPr b="1"/>
              <a:t>Activity Tracking</a:t>
            </a:r>
            <a:r>
              <a:t> – Mark activities as completed or missed </a:t>
            </a:r>
          </a:p>
          <a:p>
            <a:pPr marL="0" indent="0">
              <a:lnSpc>
                <a:spcPct val="100000"/>
              </a:lnSpc>
              <a:spcBef>
                <a:spcPts val="0"/>
              </a:spcBef>
              <a:buSzTx/>
              <a:buNone/>
              <a:defRPr sz="2000">
                <a:latin typeface="Arial"/>
                <a:ea typeface="Arial"/>
                <a:cs typeface="Arial"/>
                <a:sym typeface="Arial"/>
              </a:defRPr>
            </a:pPr>
          </a:p>
          <a:p>
            <a:pPr marL="0" indent="0">
              <a:lnSpc>
                <a:spcPct val="100000"/>
              </a:lnSpc>
              <a:spcBef>
                <a:spcPts val="0"/>
              </a:spcBef>
              <a:buSzTx/>
              <a:buNone/>
              <a:defRPr sz="2000">
                <a:latin typeface="Arial"/>
                <a:ea typeface="Arial"/>
                <a:cs typeface="Arial"/>
                <a:sym typeface="Arial"/>
              </a:defRPr>
            </a:pPr>
            <a:r>
              <a:t> </a:t>
            </a:r>
            <a:r>
              <a:rPr b="1"/>
              <a:t>Daily Overview</a:t>
            </a:r>
            <a:r>
              <a:t> – View planned and completed activities </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Title 1"/>
          <p:cNvSpPr txBox="1"/>
          <p:nvPr>
            <p:ph type="title"/>
          </p:nvPr>
        </p:nvSpPr>
        <p:spPr>
          <a:xfrm>
            <a:off x="838200" y="365125"/>
            <a:ext cx="10515600" cy="1029920"/>
          </a:xfrm>
          <a:prstGeom prst="rect">
            <a:avLst/>
          </a:prstGeom>
        </p:spPr>
        <p:txBody>
          <a:bodyPr/>
          <a:lstStyle/>
          <a:p>
            <a:pPr/>
            <a:r>
              <a:t>System Work-Flow</a:t>
            </a:r>
          </a:p>
        </p:txBody>
      </p:sp>
      <p:sp>
        <p:nvSpPr>
          <p:cNvPr id="116" name="Content Placeholder 2"/>
          <p:cNvSpPr txBox="1"/>
          <p:nvPr>
            <p:ph type="body" idx="1"/>
          </p:nvPr>
        </p:nvSpPr>
        <p:spPr>
          <a:xfrm>
            <a:off x="838200" y="1477108"/>
            <a:ext cx="10515600" cy="5040923"/>
          </a:xfrm>
          <a:prstGeom prst="rect">
            <a:avLst/>
          </a:prstGeom>
        </p:spPr>
        <p:txBody>
          <a:bodyPr/>
          <a:lstStyle/>
          <a:p>
            <a:pPr marL="0" indent="0" algn="ctr" defTabSz="905255">
              <a:lnSpc>
                <a:spcPct val="81000"/>
              </a:lnSpc>
              <a:spcBef>
                <a:spcPts val="900"/>
              </a:spcBef>
              <a:buSzTx/>
              <a:buNone/>
              <a:defRPr sz="2475"/>
            </a:pPr>
            <a:r>
              <a:t>1. USER ENTERS ACTIVITY</a:t>
            </a:r>
            <a:br/>
            <a:r>
              <a:t>↓</a:t>
            </a:r>
            <a:br/>
            <a:r>
              <a:t>2. ASSIGNS DATE &amp; TIME</a:t>
            </a:r>
            <a:br/>
            <a:r>
              <a:t>↓</a:t>
            </a:r>
            <a:br/>
            <a:r>
              <a:t>3. CREATES ALARM / REMINDER</a:t>
            </a:r>
            <a:br/>
            <a:r>
              <a:t>↓</a:t>
            </a:r>
            <a:br/>
            <a:r>
              <a:t>4. SYSTEM MONITORS CURRENT TIME</a:t>
            </a:r>
            <a:br/>
            <a:r>
              <a:t>↓</a:t>
            </a:r>
            <a:br/>
            <a:r>
              <a:t>5. ALARM CONDITION IS REACHED</a:t>
            </a:r>
            <a:br/>
            <a:r>
              <a:t>↓</a:t>
            </a:r>
            <a:br/>
            <a:r>
              <a:t>6. USER RECEIVES ALERT</a:t>
            </a:r>
            <a:br/>
            <a:r>
              <a:t>↓</a:t>
            </a:r>
            <a:br/>
            <a:r>
              <a:t>7. ACTIVITY IS COMPLETED OR MISSED</a:t>
            </a:r>
            <a:br/>
            <a:r>
              <a:t>↓</a:t>
            </a:r>
            <a:br/>
            <a:r>
              <a:t>8. STATUS IS RECORDED</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itle 1"/>
          <p:cNvSpPr txBox="1"/>
          <p:nvPr>
            <p:ph type="title"/>
          </p:nvPr>
        </p:nvSpPr>
        <p:spPr>
          <a:xfrm>
            <a:off x="838200" y="365125"/>
            <a:ext cx="10515600" cy="1325563"/>
          </a:xfrm>
          <a:prstGeom prst="rect">
            <a:avLst/>
          </a:prstGeom>
        </p:spPr>
        <p:txBody>
          <a:bodyPr/>
          <a:lstStyle/>
          <a:p>
            <a:pPr/>
            <a:r>
              <a:t>SOFTWARE REQUIREMENTS</a:t>
            </a:r>
          </a:p>
        </p:txBody>
      </p:sp>
      <p:graphicFrame>
        <p:nvGraphicFramePr>
          <p:cNvPr id="119" name="Content Placeholder 3"/>
          <p:cNvGraphicFramePr/>
          <p:nvPr/>
        </p:nvGraphicFramePr>
        <p:xfrm>
          <a:off x="838200" y="1547440"/>
          <a:ext cx="10515600" cy="451339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257800"/>
                <a:gridCol w="5257800"/>
              </a:tblGrid>
              <a:tr h="644770">
                <a:tc>
                  <a:txBody>
                    <a:bodyPr/>
                    <a:lstStyle/>
                    <a:p>
                      <a:pPr algn="l">
                        <a:defRPr sz="1800"/>
                      </a:pPr>
                      <a:r>
                        <a:rPr b="1"/>
                        <a:t>Software</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l">
                        <a:defRPr sz="1800"/>
                      </a:pPr>
                      <a:r>
                        <a:rPr b="1"/>
                        <a:t>Purpose</a:t>
                      </a:r>
                    </a:p>
                  </a:txBody>
                  <a:tcPr marL="45720" marR="45720" marT="45720" marB="45720" anchor="ctr" anchorCtr="0" horzOverflow="overflow">
                    <a:lnL w="12700">
                      <a:miter lim="400000"/>
                    </a:lnL>
                    <a:lnR w="12700">
                      <a:miter lim="400000"/>
                    </a:lnR>
                    <a:lnT w="12700">
                      <a:miter lim="400000"/>
                    </a:lnT>
                    <a:lnB w="12700">
                      <a:miter lim="400000"/>
                    </a:lnB>
                    <a:noFill/>
                  </a:tcPr>
                </a:tc>
              </a:tr>
              <a:tr h="644770">
                <a:tc>
                  <a:txBody>
                    <a:bodyPr/>
                    <a:lstStyle/>
                    <a:p>
                      <a:pPr algn="l">
                        <a:defRPr sz="1800"/>
                      </a:pPr>
                      <a:r>
                        <a:rPr b="1"/>
                        <a:t>Linux / Ubuntu</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l">
                        <a:defRPr sz="1800"/>
                      </a:pPr>
                      <a:r>
                        <a:t>Operating system for development and execution</a:t>
                      </a:r>
                    </a:p>
                  </a:txBody>
                  <a:tcPr marL="45720" marR="45720" marT="45720" marB="45720" anchor="ctr" anchorCtr="0" horzOverflow="overflow">
                    <a:lnL w="12700">
                      <a:miter lim="400000"/>
                    </a:lnL>
                    <a:lnR w="12700">
                      <a:miter lim="400000"/>
                    </a:lnR>
                    <a:lnT w="12700">
                      <a:miter lim="400000"/>
                    </a:lnT>
                    <a:lnB w="12700">
                      <a:miter lim="400000"/>
                    </a:lnB>
                    <a:noFill/>
                  </a:tcPr>
                </a:tc>
              </a:tr>
              <a:tr h="644770">
                <a:tc>
                  <a:txBody>
                    <a:bodyPr/>
                    <a:lstStyle/>
                    <a:p>
                      <a:pPr algn="l">
                        <a:defRPr sz="1800"/>
                      </a:pPr>
                      <a:r>
                        <a:rPr b="1"/>
                        <a:t>C Programming Language</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l">
                        <a:defRPr sz="1800"/>
                      </a:pPr>
                      <a:r>
                        <a:t>Develop the alarm clock application</a:t>
                      </a:r>
                    </a:p>
                  </a:txBody>
                  <a:tcPr marL="45720" marR="45720" marT="45720" marB="45720" anchor="ctr" anchorCtr="0" horzOverflow="overflow">
                    <a:lnL w="12700">
                      <a:miter lim="400000"/>
                    </a:lnL>
                    <a:lnR w="12700">
                      <a:miter lim="400000"/>
                    </a:lnR>
                    <a:lnT w="12700">
                      <a:miter lim="400000"/>
                    </a:lnT>
                    <a:lnB w="12700">
                      <a:miter lim="400000"/>
                    </a:lnB>
                    <a:noFill/>
                  </a:tcPr>
                </a:tc>
              </a:tr>
              <a:tr h="644770">
                <a:tc>
                  <a:txBody>
                    <a:bodyPr/>
                    <a:lstStyle/>
                    <a:p>
                      <a:pPr algn="l">
                        <a:defRPr sz="1800"/>
                      </a:pPr>
                      <a:r>
                        <a:rPr b="1"/>
                        <a:t>GCC Compiler</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l">
                        <a:defRPr sz="1800"/>
                      </a:pPr>
                      <a:r>
                        <a:t>Compile and run the C program</a:t>
                      </a:r>
                    </a:p>
                  </a:txBody>
                  <a:tcPr marL="45720" marR="45720" marT="45720" marB="45720" anchor="ctr" anchorCtr="0" horzOverflow="overflow">
                    <a:lnL w="12700">
                      <a:miter lim="400000"/>
                    </a:lnL>
                    <a:lnR w="12700">
                      <a:miter lim="400000"/>
                    </a:lnR>
                    <a:lnT w="12700">
                      <a:miter lim="400000"/>
                    </a:lnT>
                    <a:lnB w="12700">
                      <a:miter lim="400000"/>
                    </a:lnB>
                    <a:noFill/>
                  </a:tcPr>
                </a:tc>
              </a:tr>
              <a:tr h="644770">
                <a:tc>
                  <a:txBody>
                    <a:bodyPr/>
                    <a:lstStyle/>
                    <a:p>
                      <a:pPr algn="l">
                        <a:defRPr sz="1800"/>
                      </a:pPr>
                      <a:r>
                        <a:rPr b="1"/>
                        <a:t>POSIX APIs</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l">
                        <a:defRPr sz="1800"/>
                      </a:pPr>
                      <a:r>
                        <a:t>Implement system-level functions</a:t>
                      </a:r>
                    </a:p>
                  </a:txBody>
                  <a:tcPr marL="45720" marR="45720" marT="45720" marB="45720" anchor="ctr" anchorCtr="0" horzOverflow="overflow">
                    <a:lnL w="12700">
                      <a:miter lim="400000"/>
                    </a:lnL>
                    <a:lnR w="12700">
                      <a:miter lim="400000"/>
                    </a:lnR>
                    <a:lnT w="12700">
                      <a:miter lim="400000"/>
                    </a:lnT>
                    <a:lnB w="12700">
                      <a:miter lim="400000"/>
                    </a:lnB>
                    <a:noFill/>
                  </a:tcPr>
                </a:tc>
              </a:tr>
              <a:tr h="644770">
                <a:tc>
                  <a:txBody>
                    <a:bodyPr/>
                    <a:lstStyle/>
                    <a:p>
                      <a:pPr algn="l">
                        <a:defRPr sz="1800"/>
                      </a:pPr>
                      <a:r>
                        <a:rPr b="1"/>
                        <a:t>VS Code / Text Editor</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l">
                        <a:defRPr sz="1800"/>
                      </a:pPr>
                      <a:r>
                        <a:t>Write and edit source code</a:t>
                      </a:r>
                    </a:p>
                  </a:txBody>
                  <a:tcPr marL="45720" marR="45720" marT="45720" marB="45720" anchor="ctr" anchorCtr="0" horzOverflow="overflow">
                    <a:lnL w="12700">
                      <a:miter lim="400000"/>
                    </a:lnL>
                    <a:lnR w="12700">
                      <a:miter lim="400000"/>
                    </a:lnR>
                    <a:lnT w="12700">
                      <a:miter lim="400000"/>
                    </a:lnT>
                    <a:lnB w="12700">
                      <a:miter lim="400000"/>
                    </a:lnB>
                    <a:noFill/>
                  </a:tcPr>
                </a:tc>
              </a:tr>
              <a:tr h="644770">
                <a:tc>
                  <a:txBody>
                    <a:bodyPr/>
                    <a:lstStyle/>
                    <a:p>
                      <a:pPr algn="l">
                        <a:defRPr sz="1800"/>
                      </a:pPr>
                      <a:r>
                        <a:rPr b="1"/>
                        <a:t>Linux Terminal</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l">
                        <a:defRPr sz="1800"/>
                      </a:pPr>
                      <a:r>
                        <a:t>Compile, execute, and test the program</a:t>
                      </a:r>
                    </a:p>
                  </a:txBody>
                  <a:tcPr marL="45720" marR="45720" marT="45720" marB="45720" anchor="ctr" anchorCtr="0" horzOverflow="overflow">
                    <a:lnL w="12700">
                      <a:miter lim="400000"/>
                    </a:lnL>
                    <a:lnR w="12700">
                      <a:miter lim="400000"/>
                    </a:lnR>
                    <a:lnT w="12700">
                      <a:miter lim="400000"/>
                    </a:lnT>
                    <a:lnB w="12700">
                      <a:miter lim="400000"/>
                    </a:lnB>
                    <a:noFill/>
                  </a:tcPr>
                </a:tc>
              </a:tr>
            </a:tbl>
          </a:graphicData>
        </a:graphic>
      </p:graphicFrame>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IMPLEMENTATION"/>
          <p:cNvSpPr txBox="1"/>
          <p:nvPr>
            <p:ph type="title"/>
          </p:nvPr>
        </p:nvSpPr>
        <p:spPr>
          <a:prstGeom prst="rect">
            <a:avLst/>
          </a:prstGeom>
        </p:spPr>
        <p:txBody>
          <a:bodyPr/>
          <a:lstStyle/>
          <a:p>
            <a:pPr/>
            <a:r>
              <a:t>IMPLEMENTATION</a:t>
            </a:r>
          </a:p>
        </p:txBody>
      </p:sp>
      <p:pic>
        <p:nvPicPr>
          <p:cNvPr id="122" name="pasted-movie.png" descr="pasted-movie.png"/>
          <p:cNvPicPr>
            <a:picLocks noChangeAspect="1"/>
          </p:cNvPicPr>
          <p:nvPr/>
        </p:nvPicPr>
        <p:blipFill>
          <a:blip r:embed="rId2">
            <a:extLst/>
          </a:blip>
          <a:stretch>
            <a:fillRect/>
          </a:stretch>
        </p:blipFill>
        <p:spPr>
          <a:xfrm>
            <a:off x="1350362" y="1403937"/>
            <a:ext cx="4457818" cy="4387505"/>
          </a:xfrm>
          <a:prstGeom prst="rect">
            <a:avLst/>
          </a:prstGeom>
          <a:ln w="12700">
            <a:miter lim="400000"/>
          </a:ln>
        </p:spPr>
      </p:pic>
      <p:pic>
        <p:nvPicPr>
          <p:cNvPr id="123" name="pasted-movie.png" descr="pasted-movie.png"/>
          <p:cNvPicPr>
            <a:picLocks noChangeAspect="1"/>
          </p:cNvPicPr>
          <p:nvPr/>
        </p:nvPicPr>
        <p:blipFill>
          <a:blip r:embed="rId3">
            <a:extLst/>
          </a:blip>
          <a:stretch>
            <a:fillRect/>
          </a:stretch>
        </p:blipFill>
        <p:spPr>
          <a:xfrm>
            <a:off x="6658855" y="1302671"/>
            <a:ext cx="4089182" cy="4590037"/>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OUTPUT"/>
          <p:cNvSpPr txBox="1"/>
          <p:nvPr>
            <p:ph type="title"/>
          </p:nvPr>
        </p:nvSpPr>
        <p:spPr>
          <a:prstGeom prst="rect">
            <a:avLst/>
          </a:prstGeom>
        </p:spPr>
        <p:txBody>
          <a:bodyPr/>
          <a:lstStyle/>
          <a:p>
            <a:pPr/>
            <a:r>
              <a:t>OUTPUT</a:t>
            </a:r>
          </a:p>
        </p:txBody>
      </p:sp>
      <p:pic>
        <p:nvPicPr>
          <p:cNvPr id="126" name="pasted-movie.png" descr="pasted-movie.png"/>
          <p:cNvPicPr>
            <a:picLocks noChangeAspect="1"/>
          </p:cNvPicPr>
          <p:nvPr/>
        </p:nvPicPr>
        <p:blipFill>
          <a:blip r:embed="rId2">
            <a:extLst/>
          </a:blip>
          <a:stretch>
            <a:fillRect/>
          </a:stretch>
        </p:blipFill>
        <p:spPr>
          <a:xfrm>
            <a:off x="241548" y="1271789"/>
            <a:ext cx="5886657" cy="2780772"/>
          </a:xfrm>
          <a:prstGeom prst="rect">
            <a:avLst/>
          </a:prstGeom>
          <a:ln w="12700">
            <a:miter lim="400000"/>
          </a:ln>
        </p:spPr>
      </p:pic>
      <p:pic>
        <p:nvPicPr>
          <p:cNvPr id="127" name="pasted-movie.png" descr="pasted-movie.png"/>
          <p:cNvPicPr>
            <a:picLocks noChangeAspect="1"/>
          </p:cNvPicPr>
          <p:nvPr/>
        </p:nvPicPr>
        <p:blipFill>
          <a:blip r:embed="rId3">
            <a:extLst/>
          </a:blip>
          <a:stretch>
            <a:fillRect/>
          </a:stretch>
        </p:blipFill>
        <p:spPr>
          <a:xfrm>
            <a:off x="6364698" y="1174367"/>
            <a:ext cx="5384801" cy="1346201"/>
          </a:xfrm>
          <a:prstGeom prst="rect">
            <a:avLst/>
          </a:prstGeom>
          <a:ln w="12700">
            <a:miter lim="400000"/>
          </a:ln>
        </p:spPr>
      </p:pic>
      <p:pic>
        <p:nvPicPr>
          <p:cNvPr id="128" name="pasted-movie.png" descr="pasted-movie.png"/>
          <p:cNvPicPr>
            <a:picLocks noChangeAspect="1"/>
          </p:cNvPicPr>
          <p:nvPr/>
        </p:nvPicPr>
        <p:blipFill>
          <a:blip r:embed="rId4">
            <a:extLst/>
          </a:blip>
          <a:stretch>
            <a:fillRect/>
          </a:stretch>
        </p:blipFill>
        <p:spPr>
          <a:xfrm>
            <a:off x="6344628" y="2742420"/>
            <a:ext cx="4670183" cy="2936492"/>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Title 1"/>
          <p:cNvSpPr txBox="1"/>
          <p:nvPr>
            <p:ph type="title"/>
          </p:nvPr>
        </p:nvSpPr>
        <p:spPr>
          <a:xfrm>
            <a:off x="838200" y="611310"/>
            <a:ext cx="10515600" cy="1325564"/>
          </a:xfrm>
          <a:prstGeom prst="rect">
            <a:avLst/>
          </a:prstGeom>
        </p:spPr>
        <p:txBody>
          <a:bodyPr/>
          <a:lstStyle/>
          <a:p>
            <a:pPr/>
            <a:r>
              <a:t>Conclusion</a:t>
            </a:r>
          </a:p>
        </p:txBody>
      </p:sp>
      <p:sp>
        <p:nvSpPr>
          <p:cNvPr id="131" name="Content Placeholder 2"/>
          <p:cNvSpPr txBox="1"/>
          <p:nvPr>
            <p:ph type="body" sz="half" idx="1"/>
          </p:nvPr>
        </p:nvSpPr>
        <p:spPr>
          <a:xfrm>
            <a:off x="838200" y="2458671"/>
            <a:ext cx="10515600" cy="2382961"/>
          </a:xfrm>
          <a:prstGeom prst="rect">
            <a:avLst/>
          </a:prstGeom>
        </p:spPr>
        <p:txBody>
          <a:bodyPr/>
          <a:lstStyle>
            <a:lvl1pPr marL="0" indent="0">
              <a:buSzTx/>
              <a:buNone/>
            </a:lvl1pPr>
          </a:lstStyle>
          <a:p>
            <a:pPr/>
            <a:r>
              <a:t>The Smart Alarm Clock goes beyond a basic alarm by connecting alarms with daily activities, tasks, schedules, and reminders. It helps users organize their time and manage their daily activities more effectively. The project also demonstrates the practical use of C programming, Linux, and POSIX system-programming concepts.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Content Placeholder 2"/>
          <p:cNvSpPr txBox="1"/>
          <p:nvPr>
            <p:ph type="body" sz="half" idx="1"/>
          </p:nvPr>
        </p:nvSpPr>
        <p:spPr>
          <a:xfrm>
            <a:off x="2734408" y="2549769"/>
            <a:ext cx="7253655" cy="2384914"/>
          </a:xfrm>
          <a:prstGeom prst="rect">
            <a:avLst/>
          </a:prstGeom>
        </p:spPr>
        <p:txBody>
          <a:bodyPr/>
          <a:lstStyle>
            <a:lvl1pPr marL="0" indent="0">
              <a:buSzTx/>
              <a:buNone/>
              <a:defRPr sz="9600"/>
            </a:lvl1pPr>
          </a:lstStyle>
          <a:p>
            <a:pPr/>
            <a:r>
              <a:t>THANK YOU</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